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301" r:id="rId36"/>
    <p:sldId id="290" r:id="rId37"/>
    <p:sldId id="291" r:id="rId38"/>
    <p:sldId id="292" r:id="rId39"/>
  </p:sldIdLst>
  <p:sldSz cx="18288000" cy="10287000"/>
  <p:notesSz cx="10287000" cy="18288000"/>
  <p:embeddedFontLst>
    <p:embeddedFont>
      <p:font typeface="Do Hyeon" panose="020B0600000101010101" charset="-127"/>
      <p:regular r:id="rId41"/>
    </p:embeddedFont>
    <p:embeddedFont>
      <p:font typeface="나눔스퀘어_ac Bold" panose="020B0600000101010101" pitchFamily="50" charset="-127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hSA+9osyCBlU9KZxmlYiIpZlkn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F30F71-A087-480E-BF02-D709F8F6209E}">
  <a:tblStyle styleId="{A1F30F71-A087-480E-BF02-D709F8F620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22" autoAdjust="0"/>
  </p:normalViewPr>
  <p:slideViewPr>
    <p:cSldViewPr snapToGrid="0">
      <p:cViewPr varScale="1">
        <p:scale>
          <a:sx n="56" d="100"/>
          <a:sy n="56" d="100"/>
        </p:scale>
        <p:origin x="495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a1ef30707_0_12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ca1ef30707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a1ef30707_0_3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ca1ef3070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a1ef30707_0_1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ca1ef3070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a1ef30707_0_55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ca1ef3070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a1ef30707_0_7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ca1ef3070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a1ef30707_0_9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ca1ef30707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43619208-F937-F79F-9438-C705697E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a1ef30707_0_97:notes">
            <a:extLst>
              <a:ext uri="{FF2B5EF4-FFF2-40B4-BE49-F238E27FC236}">
                <a16:creationId xmlns:a16="http://schemas.microsoft.com/office/drawing/2014/main" id="{1AE18123-94B3-F5A3-207D-5C7EE3FD2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ca1ef30707_0_97:notes">
            <a:extLst>
              <a:ext uri="{FF2B5EF4-FFF2-40B4-BE49-F238E27FC236}">
                <a16:creationId xmlns:a16="http://schemas.microsoft.com/office/drawing/2014/main" id="{05491D7A-F737-B2F2-B7A4-2AE391F2D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8866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EC5770B2-A9D4-32ED-88C4-6C29B91E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a1ef30707_0_97:notes">
            <a:extLst>
              <a:ext uri="{FF2B5EF4-FFF2-40B4-BE49-F238E27FC236}">
                <a16:creationId xmlns:a16="http://schemas.microsoft.com/office/drawing/2014/main" id="{E90C43EE-AC65-92BF-87AB-72914326E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ca1ef30707_0_97:notes">
            <a:extLst>
              <a:ext uri="{FF2B5EF4-FFF2-40B4-BE49-F238E27FC236}">
                <a16:creationId xmlns:a16="http://schemas.microsoft.com/office/drawing/2014/main" id="{26E5D4DA-2258-2377-7B63-DC1F5B6B3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504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a1ef30707_3_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ca1ef30707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a06bb47b3_13_18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ca06bb47b3_13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ca06bb47b3_13_35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ca06bb47b3_1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a06bb47b3_13_52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ca06bb47b3_1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a06bb47b3_13_69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3ca06bb47b3_1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a06bb47b3_0_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3ca06bb47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a06bb47b3_0_36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3ca06bb47b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a06bb47b3_0_109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3ca06bb47b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a06bb47b3_0_20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3ca06bb47b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a06bb47b3_0_12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g3ca06bb47b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a06bb47b3_0_247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g3ca06bb47b3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a06bb47b3_0_8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g3ca06bb47b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a06bb47b3_0_6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g3ca06bb47b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a06bb47b3_0_276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ca06bb47b3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a06bb47b3_7_2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ca06bb47b3_7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ca06bb47b3_0_129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3ca06bb47b3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a06bb47b3_7_8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3ca06bb47b3_7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a06bb47b3_0_174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3ca06bb47b3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ca06bb47b3_7_49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g3ca06bb47b3_7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ca06bb47b3_7_6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g3ca06bb47b3_7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ca06bb47b3_0_141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g3ca06bb47b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a06bb47b3_0_153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3ca06bb47b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9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�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�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�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�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2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26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28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29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1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6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8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39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40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4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4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45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18" Type="http://schemas.openxmlformats.org/officeDocument/2006/relationships/image" Target="../media/image5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4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51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53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54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18" Type="http://schemas.openxmlformats.org/officeDocument/2006/relationships/image" Target="../media/image59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45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60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5" Type="http://schemas.openxmlformats.org/officeDocument/2006/relationships/image" Target="../media/image61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64" y="2749278"/>
            <a:ext cx="11094695" cy="753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5095" y="6267512"/>
            <a:ext cx="7895722" cy="3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2333" y="6196480"/>
            <a:ext cx="4277889" cy="19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"/>
          <p:cNvGrpSpPr/>
          <p:nvPr/>
        </p:nvGrpSpPr>
        <p:grpSpPr>
          <a:xfrm>
            <a:off x="2288082" y="-4762500"/>
            <a:ext cx="21984410" cy="20708572"/>
            <a:chOff x="2288082" y="-4762500"/>
            <a:chExt cx="21984410" cy="20708572"/>
          </a:xfrm>
        </p:grpSpPr>
        <p:pic>
          <p:nvPicPr>
            <p:cNvPr id="88" name="Google Shape;88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036018" y="6218854"/>
              <a:ext cx="135410" cy="1354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" name="Google Shape;89;p1"/>
            <p:cNvGrpSpPr/>
            <p:nvPr/>
          </p:nvGrpSpPr>
          <p:grpSpPr>
            <a:xfrm>
              <a:off x="2288082" y="-4762500"/>
              <a:ext cx="21984410" cy="20708572"/>
              <a:chOff x="2288082" y="-4762500"/>
              <a:chExt cx="21984410" cy="20708572"/>
            </a:xfrm>
          </p:grpSpPr>
          <p:pic>
            <p:nvPicPr>
              <p:cNvPr id="90" name="Google Shape;90;p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-5400000">
                <a:off x="2926001" y="-5400419"/>
                <a:ext cx="20708572" cy="219844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" name="Google Shape;91;p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 rot="-5400000">
                <a:off x="7649523" y="-318814"/>
                <a:ext cx="10354287" cy="109919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2" name="Google Shape;92;p1"/>
          <p:cNvSpPr txBox="1"/>
          <p:nvPr/>
        </p:nvSpPr>
        <p:spPr>
          <a:xfrm>
            <a:off x="1114425" y="4592875"/>
            <a:ext cx="82035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Face2Emo: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안면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특징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추출을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통한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endParaRPr sz="4400" dirty="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감정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인식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최적화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및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맞춤형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색상</a:t>
            </a:r>
            <a:r>
              <a:rPr lang="en-US" sz="44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en-US" sz="4400" dirty="0" err="1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추천</a:t>
            </a:r>
            <a:endParaRPr sz="4400" dirty="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97701" y="6697475"/>
            <a:ext cx="11267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| </a:t>
            </a:r>
            <a:r>
              <a:rPr lang="en-US" sz="2800" b="1">
                <a:solidFill>
                  <a:schemeClr val="dk1"/>
                </a:solidFill>
              </a:rPr>
              <a:t>Jun2Sol (22기 박준영, 23기 서민솔, 23기 정준호)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 descr="텍스트, 폰트, 그래픽, 로고이(가) 표시된 사진&#10;&#10;자동 생성된 설명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35408" y="4403359"/>
            <a:ext cx="4581428" cy="1521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4" cy="3255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3"/>
          <p:cNvGrpSpPr/>
          <p:nvPr/>
        </p:nvGrpSpPr>
        <p:grpSpPr>
          <a:xfrm>
            <a:off x="-5088882" y="-5222382"/>
            <a:ext cx="20355525" cy="20892799"/>
            <a:chOff x="-5088882" y="-5249920"/>
            <a:chExt cx="20355525" cy="20999675"/>
          </a:xfrm>
        </p:grpSpPr>
        <p:pic>
          <p:nvPicPr>
            <p:cNvPr id="137" name="Google Shape;137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5"/>
              <a:ext cx="20999675" cy="20355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7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5" cy="753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11015021" y="5199173"/>
            <a:ext cx="62823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01. </a:t>
            </a:r>
            <a:r>
              <a:rPr lang="en-US" sz="4800" dirty="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Who We are</a:t>
            </a:r>
            <a:endParaRPr sz="4800" dirty="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3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6831078" y="824104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1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9">
            <a:alphaModFix/>
          </a:blip>
          <a:srcRect b="3405"/>
          <a:stretch/>
        </p:blipFill>
        <p:spPr>
          <a:xfrm>
            <a:off x="762000" y="1794103"/>
            <a:ext cx="16763999" cy="849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5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4" cy="3255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762000" y="571500"/>
            <a:ext cx="762456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900020"/>
                </a:solidFill>
                <a:latin typeface="Arial"/>
                <a:ea typeface="Arial"/>
                <a:cs typeface="Arial"/>
                <a:sym typeface="Arial"/>
              </a:rPr>
              <a:t>01. </a:t>
            </a:r>
            <a:r>
              <a:rPr lang="en-US" sz="4800" b="1">
                <a:solidFill>
                  <a:schemeClr val="dk1"/>
                </a:solidFill>
              </a:rPr>
              <a:t>Motivation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2294657" y="3336563"/>
            <a:ext cx="1280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0335" y="1396948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027025" y="2944398"/>
            <a:ext cx="14233954" cy="61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ca1ef30707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ca1ef30707_0_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ca1ef30707_0_1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ca1ef30707_0_1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ca1ef30707_0_1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6831078" y="824104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ca1ef30707_0_1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ca1ef30707_0_120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762000" y="1794103"/>
            <a:ext cx="16764001" cy="849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ca1ef30707_0_12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ca1ef30707_0_12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ca1ef30707_0_120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ca1ef30707_0_12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ca1ef30707_0_120"/>
          <p:cNvSpPr txBox="1"/>
          <p:nvPr/>
        </p:nvSpPr>
        <p:spPr>
          <a:xfrm>
            <a:off x="762000" y="571500"/>
            <a:ext cx="7624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900020"/>
                </a:solidFill>
                <a:latin typeface="Arial"/>
                <a:ea typeface="Arial"/>
                <a:cs typeface="Arial"/>
                <a:sym typeface="Arial"/>
              </a:rPr>
              <a:t>01. </a:t>
            </a:r>
            <a:r>
              <a:rPr lang="en-US" sz="4800" b="1">
                <a:solidFill>
                  <a:schemeClr val="dk1"/>
                </a:solidFill>
              </a:rPr>
              <a:t>Overall pipeline</a:t>
            </a:r>
            <a:endParaRPr/>
          </a:p>
        </p:txBody>
      </p:sp>
      <p:sp>
        <p:nvSpPr>
          <p:cNvPr id="179" name="Google Shape;179;g3ca1ef30707_0_120"/>
          <p:cNvSpPr txBox="1"/>
          <p:nvPr/>
        </p:nvSpPr>
        <p:spPr>
          <a:xfrm>
            <a:off x="2294657" y="3336563"/>
            <a:ext cx="1280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ca1ef30707_0_12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0335" y="1396948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ca1ef30707_0_1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57042" y="2750737"/>
            <a:ext cx="9771628" cy="657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4" cy="3255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5"/>
          <p:cNvGrpSpPr/>
          <p:nvPr/>
        </p:nvGrpSpPr>
        <p:grpSpPr>
          <a:xfrm>
            <a:off x="-5088882" y="-5222382"/>
            <a:ext cx="20355525" cy="20892799"/>
            <a:chOff x="-5088882" y="-5249920"/>
            <a:chExt cx="20355525" cy="20999675"/>
          </a:xfrm>
        </p:grpSpPr>
        <p:pic>
          <p:nvPicPr>
            <p:cNvPr id="188" name="Google Shape;188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5"/>
              <a:ext cx="20999675" cy="20355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7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5" cy="753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 txBox="1"/>
          <p:nvPr/>
        </p:nvSpPr>
        <p:spPr>
          <a:xfrm>
            <a:off x="11015021" y="5199173"/>
            <a:ext cx="62823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02.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Where We are</a:t>
            </a:r>
            <a:endParaRPr sz="4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3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6831078" y="824104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1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9">
            <a:alphaModFix/>
          </a:blip>
          <a:srcRect b="3405"/>
          <a:stretch/>
        </p:blipFill>
        <p:spPr>
          <a:xfrm>
            <a:off x="1514449" y="2314285"/>
            <a:ext cx="15256817" cy="7972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5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6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4" cy="3255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1411727" y="1166650"/>
            <a:ext cx="10493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02.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Face Emotion Recognition(FER)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2294649" y="3336575"/>
            <a:ext cx="138027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FER :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이미지나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속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분석하여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사람의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감정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상태를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자동으로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예측하는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Computer Vision Task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252637" y="6448428"/>
            <a:ext cx="7780450" cy="1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ca1ef30707_0_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ca1ef30707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ca1ef30707_0_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ca1ef30707_0_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ca1ef30707_0_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6831078" y="824104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ca1ef30707_0_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ca1ef30707_0_34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ca1ef30707_0_3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ca1ef30707_0_3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ca1ef30707_0_34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1138" y="7031304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ca1ef30707_0_3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ca1ef30707_0_34"/>
          <p:cNvSpPr txBox="1"/>
          <p:nvPr/>
        </p:nvSpPr>
        <p:spPr>
          <a:xfrm>
            <a:off x="1411727" y="1166650"/>
            <a:ext cx="10493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02.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Dataset</a:t>
            </a:r>
            <a:endParaRPr/>
          </a:p>
        </p:txBody>
      </p:sp>
      <p:sp>
        <p:nvSpPr>
          <p:cNvPr id="230" name="Google Shape;230;g3ca1ef30707_0_34"/>
          <p:cNvSpPr txBox="1"/>
          <p:nvPr/>
        </p:nvSpPr>
        <p:spPr>
          <a:xfrm>
            <a:off x="2294657" y="3336563"/>
            <a:ext cx="12801600" cy="612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080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FER2013, RAF-DB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etc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등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여러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개의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데이터셋을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합침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5080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Perceptual hashing 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965200" marR="0" lvl="1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이미지가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시각적으로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동일하면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해시값이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추출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965200" marR="0" lvl="1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이를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통해서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중복되는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이미지와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이미지에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대해서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잘못된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라벨링을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하는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것을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제거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5080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Face confidence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1022350" marR="0" lvl="1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MTCNN을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통해서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face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confidence를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구해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0.9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이하의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저품질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제거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31" name="Google Shape;231;g3ca1ef30707_0_3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ca1ef30707_0_3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1784198" y="3817175"/>
            <a:ext cx="47292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ca1ef30707_0_3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096252" y="8068588"/>
            <a:ext cx="116205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ca1ef30707_0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ca1ef30707_0_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ca1ef30707_0_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ca1ef30707_0_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ca1ef30707_0_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6831078" y="824104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ca1ef30707_0_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ca1ef30707_0_17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5587" y="23508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ca1ef30707_0_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ca1ef30707_0_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ca1ef30707_0_17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302300" y="7067904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ca1ef30707_0_1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ca1ef30707_0_17"/>
          <p:cNvSpPr txBox="1"/>
          <p:nvPr/>
        </p:nvSpPr>
        <p:spPr>
          <a:xfrm>
            <a:off x="1411727" y="1166650"/>
            <a:ext cx="10493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02.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Dataset</a:t>
            </a:r>
            <a:endParaRPr/>
          </a:p>
        </p:txBody>
      </p:sp>
      <p:pic>
        <p:nvPicPr>
          <p:cNvPr id="250" name="Google Shape;250;g3ca1ef30707_0_1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1" name="Google Shape;251;g3ca1ef30707_0_17"/>
          <p:cNvGraphicFramePr/>
          <p:nvPr>
            <p:extLst>
              <p:ext uri="{D42A27DB-BD31-4B8C-83A1-F6EECF244321}">
                <p14:modId xmlns:p14="http://schemas.microsoft.com/office/powerpoint/2010/main" val="4213244185"/>
              </p:ext>
            </p:extLst>
          </p:nvPr>
        </p:nvGraphicFramePr>
        <p:xfrm>
          <a:off x="3773651" y="4440198"/>
          <a:ext cx="4014550" cy="4094400"/>
        </p:xfrm>
        <a:graphic>
          <a:graphicData uri="http://schemas.openxmlformats.org/drawingml/2006/table">
            <a:tbl>
              <a:tblPr>
                <a:noFill/>
                <a:tableStyleId>{A1F30F71-A087-480E-BF02-D709F8F6209E}</a:tableStyleId>
              </a:tblPr>
              <a:tblGrid>
                <a:gridCol w="200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angry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4479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disgust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1766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fear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1361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happy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12185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neutral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9521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sad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8531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surprise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5150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합계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42993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" name="Google Shape;251;g3ca1ef30707_0_17">
            <a:extLst>
              <a:ext uri="{FF2B5EF4-FFF2-40B4-BE49-F238E27FC236}">
                <a16:creationId xmlns:a16="http://schemas.microsoft.com/office/drawing/2014/main" id="{A6B20E03-34C3-75F4-6385-F36A4707C2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542470"/>
              </p:ext>
            </p:extLst>
          </p:nvPr>
        </p:nvGraphicFramePr>
        <p:xfrm>
          <a:off x="10285202" y="4440198"/>
          <a:ext cx="4014550" cy="4094400"/>
        </p:xfrm>
        <a:graphic>
          <a:graphicData uri="http://schemas.openxmlformats.org/drawingml/2006/table">
            <a:tbl>
              <a:tblPr>
                <a:noFill/>
                <a:tableStyleId>{A1F30F71-A087-480E-BF02-D709F8F6209E}</a:tableStyleId>
              </a:tblPr>
              <a:tblGrid>
                <a:gridCol w="200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angry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4089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disgust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1725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fear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1310</a:t>
                      </a:r>
                      <a:endParaRPr sz="20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happy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11926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neutral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9245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sad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8241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surprise</a:t>
                      </a:r>
                      <a:endParaRPr sz="2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2776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합계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41312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30FD810-D491-CE8C-EF28-56DBC3EED353}"/>
              </a:ext>
            </a:extLst>
          </p:cNvPr>
          <p:cNvSpPr/>
          <p:nvPr/>
        </p:nvSpPr>
        <p:spPr>
          <a:xfrm>
            <a:off x="8547497" y="6152071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7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4" cy="3255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7"/>
          <p:cNvGrpSpPr/>
          <p:nvPr/>
        </p:nvGrpSpPr>
        <p:grpSpPr>
          <a:xfrm>
            <a:off x="-5088882" y="-5222382"/>
            <a:ext cx="20355525" cy="20892799"/>
            <a:chOff x="-5088882" y="-5249920"/>
            <a:chExt cx="20355525" cy="20999675"/>
          </a:xfrm>
        </p:grpSpPr>
        <p:pic>
          <p:nvPicPr>
            <p:cNvPr id="259" name="Google Shape;259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5"/>
              <a:ext cx="20999675" cy="20355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7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1" name="Google Shape;261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5" cy="753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 txBox="1"/>
          <p:nvPr/>
        </p:nvSpPr>
        <p:spPr>
          <a:xfrm>
            <a:off x="11015021" y="5199173"/>
            <a:ext cx="52917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We are best</a:t>
            </a:r>
            <a:endParaRPr sz="4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3ca1ef30707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ca1ef30707_0_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ca1ef30707_0_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ca1ef30707_0_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ca1ef30707_0_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ca1ef30707_0_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ca1ef30707_0_55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ca1ef30707_0_5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ca1ef30707_0_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ca1ef30707_0_55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ca1ef30707_0_5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ca1ef30707_0_55"/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</a:t>
            </a:r>
            <a:r>
              <a:rPr lang="en-US" sz="4800" dirty="0" err="1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ResNet</a:t>
            </a: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 : Transfer Learning </a:t>
            </a:r>
            <a:endParaRPr dirty="0"/>
          </a:p>
        </p:txBody>
      </p:sp>
      <p:sp>
        <p:nvSpPr>
          <p:cNvPr id="282" name="Google Shape;282;g3ca1ef30707_0_55"/>
          <p:cNvSpPr txBox="1"/>
          <p:nvPr/>
        </p:nvSpPr>
        <p:spPr>
          <a:xfrm>
            <a:off x="2294649" y="3336575"/>
            <a:ext cx="140028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ResNet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9 from the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scratch로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훈련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-&gt; 82.18%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ResNet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18 from the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scratch로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훈련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-&gt; 79.93%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→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성능을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높이고자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tranfer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learning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→ face pretrained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model이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성능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GOOD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83" name="Google Shape;283;g3ca1ef30707_0_5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ca1ef30707_0_5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83283" y="6081282"/>
            <a:ext cx="7898100" cy="390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액자 1">
            <a:extLst>
              <a:ext uri="{FF2B5EF4-FFF2-40B4-BE49-F238E27FC236}">
                <a16:creationId xmlns:a16="http://schemas.microsoft.com/office/drawing/2014/main" id="{90A1B2C3-D74E-B810-779E-32B730B9609C}"/>
              </a:ext>
            </a:extLst>
          </p:cNvPr>
          <p:cNvSpPr/>
          <p:nvPr/>
        </p:nvSpPr>
        <p:spPr>
          <a:xfrm>
            <a:off x="5392396" y="6392254"/>
            <a:ext cx="2538101" cy="3706796"/>
          </a:xfrm>
          <a:prstGeom prst="frame">
            <a:avLst>
              <a:gd name="adj1" fmla="val 44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ca1ef30707_0_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ca1ef30707_0_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ca1ef30707_0_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ca1ef30707_0_7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ca1ef30707_0_7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ca1ef30707_0_7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ca1ef30707_0_77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ca1ef30707_0_7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ca1ef30707_0_7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ca1ef30707_0_77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ca1ef30707_0_7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ca1ef30707_0_77"/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</a:t>
            </a:r>
            <a:r>
              <a:rPr lang="en-US" sz="4800" dirty="0" err="1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ResNet</a:t>
            </a: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 : condition injection </a:t>
            </a:r>
            <a:endParaRPr dirty="0"/>
          </a:p>
        </p:txBody>
      </p:sp>
      <p:pic>
        <p:nvPicPr>
          <p:cNvPr id="301" name="Google Shape;301;g3ca1ef30707_0_7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ca1ef30707_0_77"/>
          <p:cNvSpPr txBox="1"/>
          <p:nvPr/>
        </p:nvSpPr>
        <p:spPr>
          <a:xfrm>
            <a:off x="2294650" y="3336575"/>
            <a:ext cx="101439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landmark :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얼굴에서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의미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있는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특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징</a:t>
            </a:r>
            <a:endParaRPr lang="en-US"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landmark가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FER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task에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중요하다고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생각하여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이를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활용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landmark를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조건으로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활용하여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injection (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FiLM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03" name="Google Shape;303;g3ca1ef30707_0_7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173339" y="3286955"/>
            <a:ext cx="2552700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ca1ef30707_0_7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970586" y="6014191"/>
            <a:ext cx="7236450" cy="39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ca1ef30707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ca1ef30707_0_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ca1ef30707_0_9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ca1ef30707_0_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ca1ef30707_0_9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ca1ef30707_0_9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ca1ef30707_0_97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ca1ef30707_0_9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ca1ef30707_0_9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ca1ef30707_0_97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ca1ef30707_0_9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ca1ef30707_0_97"/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</a:t>
            </a:r>
            <a:r>
              <a:rPr lang="en-US" sz="4800" dirty="0" err="1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ResNet</a:t>
            </a: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 : graph neural network</a:t>
            </a:r>
            <a:endParaRPr dirty="0"/>
          </a:p>
        </p:txBody>
      </p:sp>
      <p:pic>
        <p:nvPicPr>
          <p:cNvPr id="322" name="Google Shape;322;g3ca1ef30707_0_9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ca1ef30707_0_97"/>
          <p:cNvSpPr txBox="1"/>
          <p:nvPr/>
        </p:nvSpPr>
        <p:spPr>
          <a:xfrm>
            <a:off x="2549530" y="3192300"/>
            <a:ext cx="140028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Landmark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에서의 특징은 </a:t>
            </a:r>
            <a:r>
              <a:rPr lang="en-US" altLang="ko-KR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CNN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충분히 추출 → </a:t>
            </a:r>
            <a:r>
              <a:rPr lang="en-US" altLang="ko-KR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landmark 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간의 관계를 반영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엣지로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노드들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관계를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파악하기에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용이한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Graph neural network (GNN)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 descr="텍스트, 도표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4DD026-091F-817C-9B24-403DD8FC116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2968" y="5620042"/>
            <a:ext cx="8939776" cy="3761858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E123918-5546-D069-7AFA-DEEDE043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ca1ef30707_0_97">
            <a:extLst>
              <a:ext uri="{FF2B5EF4-FFF2-40B4-BE49-F238E27FC236}">
                <a16:creationId xmlns:a16="http://schemas.microsoft.com/office/drawing/2014/main" id="{8BCCFB65-B388-124E-9884-E40B297220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ca1ef30707_0_97">
            <a:extLst>
              <a:ext uri="{FF2B5EF4-FFF2-40B4-BE49-F238E27FC236}">
                <a16:creationId xmlns:a16="http://schemas.microsoft.com/office/drawing/2014/main" id="{E7FEC364-9D00-0E34-1B4E-8064B05179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ca1ef30707_0_97">
            <a:extLst>
              <a:ext uri="{FF2B5EF4-FFF2-40B4-BE49-F238E27FC236}">
                <a16:creationId xmlns:a16="http://schemas.microsoft.com/office/drawing/2014/main" id="{3FA002EE-C592-1DC5-D9F5-4ABF138948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ca1ef30707_0_97">
            <a:extLst>
              <a:ext uri="{FF2B5EF4-FFF2-40B4-BE49-F238E27FC236}">
                <a16:creationId xmlns:a16="http://schemas.microsoft.com/office/drawing/2014/main" id="{F2F49234-4E30-6ED5-65CA-9781CA06DD4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ca1ef30707_0_97">
            <a:extLst>
              <a:ext uri="{FF2B5EF4-FFF2-40B4-BE49-F238E27FC236}">
                <a16:creationId xmlns:a16="http://schemas.microsoft.com/office/drawing/2014/main" id="{FED16979-056D-DAB4-76DF-C91EB8BFC7B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ca1ef30707_0_97">
            <a:extLst>
              <a:ext uri="{FF2B5EF4-FFF2-40B4-BE49-F238E27FC236}">
                <a16:creationId xmlns:a16="http://schemas.microsoft.com/office/drawing/2014/main" id="{19D0AE35-08E9-E3AD-6814-AB2252DDF9B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ca1ef30707_0_97">
            <a:extLst>
              <a:ext uri="{FF2B5EF4-FFF2-40B4-BE49-F238E27FC236}">
                <a16:creationId xmlns:a16="http://schemas.microsoft.com/office/drawing/2014/main" id="{2D216985-2C32-A005-8F04-85666AB5713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56487" y="2314284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ca1ef30707_0_97">
            <a:extLst>
              <a:ext uri="{FF2B5EF4-FFF2-40B4-BE49-F238E27FC236}">
                <a16:creationId xmlns:a16="http://schemas.microsoft.com/office/drawing/2014/main" id="{8A8AFE7B-EF9A-739D-0005-99755A02831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ca1ef30707_0_97">
            <a:extLst>
              <a:ext uri="{FF2B5EF4-FFF2-40B4-BE49-F238E27FC236}">
                <a16:creationId xmlns:a16="http://schemas.microsoft.com/office/drawing/2014/main" id="{7E6288FB-CDEB-EABB-5DB2-7F011688BEF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ca1ef30707_0_97">
            <a:extLst>
              <a:ext uri="{FF2B5EF4-FFF2-40B4-BE49-F238E27FC236}">
                <a16:creationId xmlns:a16="http://schemas.microsoft.com/office/drawing/2014/main" id="{30B3911E-68F2-881B-6D39-12D56150E3E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ca1ef30707_0_97">
            <a:extLst>
              <a:ext uri="{FF2B5EF4-FFF2-40B4-BE49-F238E27FC236}">
                <a16:creationId xmlns:a16="http://schemas.microsoft.com/office/drawing/2014/main" id="{32AB63E2-F745-E7E0-AB2B-8F512551EE3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ca1ef30707_0_97">
            <a:extLst>
              <a:ext uri="{FF2B5EF4-FFF2-40B4-BE49-F238E27FC236}">
                <a16:creationId xmlns:a16="http://schemas.microsoft.com/office/drawing/2014/main" id="{DBDCA578-1AAD-8407-3950-ADE53998A10D}"/>
              </a:ext>
            </a:extLst>
          </p:cNvPr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</a:t>
            </a:r>
            <a:r>
              <a:rPr lang="en-US" sz="4800" dirty="0" err="1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ResNet</a:t>
            </a: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 : </a:t>
            </a:r>
            <a:r>
              <a:rPr lang="en-US" altLang="ko-KR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graph neural network</a:t>
            </a:r>
            <a:endParaRPr dirty="0"/>
          </a:p>
        </p:txBody>
      </p:sp>
      <p:pic>
        <p:nvPicPr>
          <p:cNvPr id="322" name="Google Shape;322;g3ca1ef30707_0_97">
            <a:extLst>
              <a:ext uri="{FF2B5EF4-FFF2-40B4-BE49-F238E27FC236}">
                <a16:creationId xmlns:a16="http://schemas.microsoft.com/office/drawing/2014/main" id="{98961E6F-E691-E253-0E6C-8EA1D894C26F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 descr="인간의 얼굴, 텍스트, 스크린샷, 콜라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CB879-7AB5-69ED-2607-B60390EFF9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3628" y="3760233"/>
            <a:ext cx="5293549" cy="5293549"/>
          </a:xfrm>
          <a:prstGeom prst="rect">
            <a:avLst/>
          </a:prstGeom>
        </p:spPr>
      </p:pic>
      <p:pic>
        <p:nvPicPr>
          <p:cNvPr id="6" name="그림 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7787D-004C-A932-1EA6-77B0C9E026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6939" y="4247179"/>
            <a:ext cx="7881893" cy="431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9247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314FEB32-6E46-6ECF-8C9D-22465867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ca1ef30707_0_97">
            <a:extLst>
              <a:ext uri="{FF2B5EF4-FFF2-40B4-BE49-F238E27FC236}">
                <a16:creationId xmlns:a16="http://schemas.microsoft.com/office/drawing/2014/main" id="{507AD5E1-E3B7-EC2C-B884-263DBA1AFB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ca1ef30707_0_97">
            <a:extLst>
              <a:ext uri="{FF2B5EF4-FFF2-40B4-BE49-F238E27FC236}">
                <a16:creationId xmlns:a16="http://schemas.microsoft.com/office/drawing/2014/main" id="{AA26AB65-F6E7-F0D1-C8C7-0CE3B8A1A2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ca1ef30707_0_97">
            <a:extLst>
              <a:ext uri="{FF2B5EF4-FFF2-40B4-BE49-F238E27FC236}">
                <a16:creationId xmlns:a16="http://schemas.microsoft.com/office/drawing/2014/main" id="{BDD7B619-B32C-5D65-629E-B246050F007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ca1ef30707_0_97">
            <a:extLst>
              <a:ext uri="{FF2B5EF4-FFF2-40B4-BE49-F238E27FC236}">
                <a16:creationId xmlns:a16="http://schemas.microsoft.com/office/drawing/2014/main" id="{0C38F7FC-D63B-E7F9-E603-1E71EE6B36F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ca1ef30707_0_97">
            <a:extLst>
              <a:ext uri="{FF2B5EF4-FFF2-40B4-BE49-F238E27FC236}">
                <a16:creationId xmlns:a16="http://schemas.microsoft.com/office/drawing/2014/main" id="{341F1494-DAA1-A46D-653B-781D1819F9A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ca1ef30707_0_97">
            <a:extLst>
              <a:ext uri="{FF2B5EF4-FFF2-40B4-BE49-F238E27FC236}">
                <a16:creationId xmlns:a16="http://schemas.microsoft.com/office/drawing/2014/main" id="{C23015B9-B82B-BA1D-06DA-28228FC228E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ca1ef30707_0_97">
            <a:extLst>
              <a:ext uri="{FF2B5EF4-FFF2-40B4-BE49-F238E27FC236}">
                <a16:creationId xmlns:a16="http://schemas.microsoft.com/office/drawing/2014/main" id="{038811B1-53AC-9341-15EF-BC6681F5629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624854" y="2314284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ca1ef30707_0_97">
            <a:extLst>
              <a:ext uri="{FF2B5EF4-FFF2-40B4-BE49-F238E27FC236}">
                <a16:creationId xmlns:a16="http://schemas.microsoft.com/office/drawing/2014/main" id="{F59B3A92-0C57-CDC6-DD13-FC4502CB35C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ca1ef30707_0_97">
            <a:extLst>
              <a:ext uri="{FF2B5EF4-FFF2-40B4-BE49-F238E27FC236}">
                <a16:creationId xmlns:a16="http://schemas.microsoft.com/office/drawing/2014/main" id="{94E3F843-3FCA-B725-7B93-9EC478056C8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ca1ef30707_0_97">
            <a:extLst>
              <a:ext uri="{FF2B5EF4-FFF2-40B4-BE49-F238E27FC236}">
                <a16:creationId xmlns:a16="http://schemas.microsoft.com/office/drawing/2014/main" id="{6EA7CE06-9597-77D5-58E8-957974E6882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110403" y="7067916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ca1ef30707_0_97">
            <a:extLst>
              <a:ext uri="{FF2B5EF4-FFF2-40B4-BE49-F238E27FC236}">
                <a16:creationId xmlns:a16="http://schemas.microsoft.com/office/drawing/2014/main" id="{910928D3-A6C3-BC31-92A9-9B13DFD3E09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ca1ef30707_0_97">
            <a:extLst>
              <a:ext uri="{FF2B5EF4-FFF2-40B4-BE49-F238E27FC236}">
                <a16:creationId xmlns:a16="http://schemas.microsoft.com/office/drawing/2014/main" id="{3DB84A62-0DA6-40AA-8A4D-B10C18EE4D18}"/>
              </a:ext>
            </a:extLst>
          </p:cNvPr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</a:t>
            </a:r>
            <a:r>
              <a:rPr lang="en-US" sz="4800" dirty="0" err="1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ResNet</a:t>
            </a:r>
            <a:r>
              <a:rPr lang="en-US" sz="4800" dirty="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 : minority class accuracy</a:t>
            </a:r>
            <a:endParaRPr dirty="0"/>
          </a:p>
        </p:txBody>
      </p:sp>
      <p:pic>
        <p:nvPicPr>
          <p:cNvPr id="322" name="Google Shape;322;g3ca1ef30707_0_97">
            <a:extLst>
              <a:ext uri="{FF2B5EF4-FFF2-40B4-BE49-F238E27FC236}">
                <a16:creationId xmlns:a16="http://schemas.microsoft.com/office/drawing/2014/main" id="{013470EA-CE48-AE5D-C2D8-E7F88C88CAE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241DD6-A04F-1F10-0C34-40A87C4A68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0497" y="4841394"/>
            <a:ext cx="9064650" cy="4487890"/>
          </a:xfrm>
          <a:prstGeom prst="rect">
            <a:avLst/>
          </a:prstGeom>
        </p:spPr>
      </p:pic>
      <p:sp>
        <p:nvSpPr>
          <p:cNvPr id="5" name="Google Shape;323;g3ca1ef30707_0_97">
            <a:extLst>
              <a:ext uri="{FF2B5EF4-FFF2-40B4-BE49-F238E27FC236}">
                <a16:creationId xmlns:a16="http://schemas.microsoft.com/office/drawing/2014/main" id="{8EAB0F0E-116A-017A-C43F-3269BD5469B2}"/>
              </a:ext>
            </a:extLst>
          </p:cNvPr>
          <p:cNvSpPr txBox="1"/>
          <p:nvPr/>
        </p:nvSpPr>
        <p:spPr>
          <a:xfrm>
            <a:off x="2294657" y="2641731"/>
            <a:ext cx="140028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 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전체적인 성능은 </a:t>
            </a:r>
            <a:r>
              <a:rPr lang="en-US" altLang="ko-KR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87.12%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좋게 나왔지만 데이터 수가 적은 </a:t>
            </a:r>
            <a:r>
              <a:rPr lang="en-US" altLang="ko-KR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disgust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fear</a:t>
            </a:r>
            <a:r>
              <a:rPr lang="ko-KR" alt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아주 성능이 좋지 않게 나옴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DA4DEB23-1932-2178-1736-1FD80FA27565}"/>
              </a:ext>
            </a:extLst>
          </p:cNvPr>
          <p:cNvSpPr/>
          <p:nvPr/>
        </p:nvSpPr>
        <p:spPr>
          <a:xfrm>
            <a:off x="6033331" y="7444849"/>
            <a:ext cx="2538101" cy="1946979"/>
          </a:xfrm>
          <a:prstGeom prst="frame">
            <a:avLst>
              <a:gd name="adj1" fmla="val 44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506070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3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1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8"/>
          <p:cNvPicPr preferRelativeResize="0"/>
          <p:nvPr/>
        </p:nvPicPr>
        <p:blipFill rotWithShape="1">
          <a:blip r:embed="rId9">
            <a:alphaModFix/>
          </a:blip>
          <a:srcRect b="3405"/>
          <a:stretch/>
        </p:blipFill>
        <p:spPr>
          <a:xfrm>
            <a:off x="1514449" y="2314285"/>
            <a:ext cx="15256817" cy="7972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5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8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4" cy="3255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"/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EfficientNet-B2: Transfer Learning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7144096" y="3441350"/>
            <a:ext cx="8770500" cy="698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Compound Scaling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Depth (Layer)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Width (Channel)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Resolution (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해상도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균형있게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키워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성능을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높인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Scale = B2 (9.9M parameters,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성능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대비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효율적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Weighted Cross Entropy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51" name="Google Shape;351;p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8" title="스크린샷 2026-02-22 오후 4.50.47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391113" y="3102473"/>
            <a:ext cx="405765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ca1ef30707_3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ca1ef30707_3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ca1ef30707_3_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ca1ef30707_3_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ca1ef30707_3_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ca1ef30707_3_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ca1ef30707_3_7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ca1ef30707_3_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ca1ef30707_3_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ca1ef30707_3_7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ca1ef30707_3_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ca1ef30707_3_7"/>
          <p:cNvSpPr txBox="1"/>
          <p:nvPr/>
        </p:nvSpPr>
        <p:spPr>
          <a:xfrm>
            <a:off x="1411729" y="1166650"/>
            <a:ext cx="12236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EfficientNet-B2: Transfer Learning</a:t>
            </a:r>
            <a:endParaRPr/>
          </a:p>
        </p:txBody>
      </p:sp>
      <p:pic>
        <p:nvPicPr>
          <p:cNvPr id="369" name="Google Shape;369;g3ca1ef30707_3_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ca1ef30707_3_7"/>
          <p:cNvSpPr txBox="1"/>
          <p:nvPr/>
        </p:nvSpPr>
        <p:spPr>
          <a:xfrm>
            <a:off x="10757589" y="2655150"/>
            <a:ext cx="6539700" cy="794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2-phase training: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기존에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큰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데이터로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잘 pre-trained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되어있는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weight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이용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Phase 1)</a:t>
            </a:r>
            <a:endParaRPr sz="2800" b="1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backbone freeze,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classification head only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Phase 2)</a:t>
            </a:r>
            <a:endParaRPr sz="2800" b="1" dirty="0">
              <a:solidFill>
                <a:srgbClr val="0000FF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fully unfreeze, fine-tuning (learning rate ↓,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미세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조정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71" name="Google Shape;371;g3ca1ef30707_3_7" title="efficientnet_b2_architecture.png"/>
          <p:cNvPicPr preferRelativeResize="0"/>
          <p:nvPr/>
        </p:nvPicPr>
        <p:blipFill rotWithShape="1">
          <a:blip r:embed="rId15">
            <a:alphaModFix/>
          </a:blip>
          <a:srcRect b="8850"/>
          <a:stretch/>
        </p:blipFill>
        <p:spPr>
          <a:xfrm>
            <a:off x="1817464" y="2655150"/>
            <a:ext cx="8940124" cy="744870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ca1ef30707_3_7"/>
          <p:cNvSpPr/>
          <p:nvPr/>
        </p:nvSpPr>
        <p:spPr>
          <a:xfrm>
            <a:off x="2237557" y="4169825"/>
            <a:ext cx="3852300" cy="3429000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ca1ef30707_3_7"/>
          <p:cNvSpPr/>
          <p:nvPr/>
        </p:nvSpPr>
        <p:spPr>
          <a:xfrm>
            <a:off x="2237564" y="8551325"/>
            <a:ext cx="3852300" cy="14883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g3ca06bb47b3_13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ca06bb47b3_13_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ca06bb47b3_13_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3ca06bb47b3_13_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ca06bb47b3_13_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ca06bb47b3_13_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3ca06bb47b3_13_18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ca06bb47b3_13_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ca06bb47b3_13_1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ca06bb47b3_13_18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ca06bb47b3_13_1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ca06bb47b3_13_18"/>
          <p:cNvSpPr txBox="1"/>
          <p:nvPr/>
        </p:nvSpPr>
        <p:spPr>
          <a:xfrm>
            <a:off x="1411731" y="1166650"/>
            <a:ext cx="15100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EfficientNet-B2: ImageNet VS AffectNet</a:t>
            </a:r>
            <a:endParaRPr/>
          </a:p>
        </p:txBody>
      </p:sp>
      <p:pic>
        <p:nvPicPr>
          <p:cNvPr id="390" name="Google Shape;390;g3ca06bb47b3_13_1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ca06bb47b3_13_18" title="output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03993" y="5105979"/>
            <a:ext cx="12277725" cy="465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2" name="Google Shape;392;g3ca06bb47b3_13_18"/>
          <p:cNvGraphicFramePr/>
          <p:nvPr>
            <p:extLst>
              <p:ext uri="{D42A27DB-BD31-4B8C-83A1-F6EECF244321}">
                <p14:modId xmlns:p14="http://schemas.microsoft.com/office/powerpoint/2010/main" val="922676453"/>
              </p:ext>
            </p:extLst>
          </p:nvPr>
        </p:nvGraphicFramePr>
        <p:xfrm>
          <a:off x="4839759" y="2478636"/>
          <a:ext cx="8670450" cy="21312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5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0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pretrained data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Test Acc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ImageNet </a:t>
                      </a:r>
                      <a:endParaRPr sz="2000" b="1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일반</a:t>
                      </a: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객체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81.20%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AffectNet </a:t>
                      </a:r>
                      <a:endParaRPr sz="2000" b="1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얼굴</a:t>
                      </a: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표정</a:t>
                      </a: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이미지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85.25%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3" name="Google Shape;393;g3ca06bb47b3_13_18"/>
          <p:cNvSpPr/>
          <p:nvPr/>
        </p:nvSpPr>
        <p:spPr>
          <a:xfrm flipH="1">
            <a:off x="5539125" y="6922705"/>
            <a:ext cx="3115800" cy="28410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g3ca06bb47b3_13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ca06bb47b3_13_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3ca06bb47b3_13_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3ca06bb47b3_13_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ca06bb47b3_13_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ca06bb47b3_13_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ca06bb47b3_13_35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ca06bb47b3_13_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ca06bb47b3_13_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ca06bb47b3_13_35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ca06bb47b3_13_3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ca06bb47b3_13_35"/>
          <p:cNvSpPr txBox="1"/>
          <p:nvPr/>
        </p:nvSpPr>
        <p:spPr>
          <a:xfrm>
            <a:off x="1411725" y="1166650"/>
            <a:ext cx="16059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EfficientNet-B2: Weighted Cross Entropy VS Focal Loss</a:t>
            </a:r>
            <a:endParaRPr/>
          </a:p>
        </p:txBody>
      </p:sp>
      <p:pic>
        <p:nvPicPr>
          <p:cNvPr id="410" name="Google Shape;410;g3ca06bb47b3_13_3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3ca06bb47b3_13_35" title="output (1)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03993" y="5207468"/>
            <a:ext cx="12277725" cy="465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" name="Google Shape;412;g3ca06bb47b3_13_35"/>
          <p:cNvGraphicFramePr/>
          <p:nvPr>
            <p:extLst>
              <p:ext uri="{D42A27DB-BD31-4B8C-83A1-F6EECF244321}">
                <p14:modId xmlns:p14="http://schemas.microsoft.com/office/powerpoint/2010/main" val="160622700"/>
              </p:ext>
            </p:extLst>
          </p:nvPr>
        </p:nvGraphicFramePr>
        <p:xfrm>
          <a:off x="3206391" y="2891263"/>
          <a:ext cx="11843109" cy="2228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43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Loss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Test Acc</a:t>
                      </a:r>
                      <a:endParaRPr sz="2000" b="1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Weight Cross Entropy 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class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불균형</a:t>
                      </a: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해소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85.25%</a:t>
                      </a:r>
                      <a:endParaRPr sz="2000" b="1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Focal</a:t>
                      </a:r>
                      <a:endParaRPr sz="2000" b="1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쉬운</a:t>
                      </a: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sample의</a:t>
                      </a:r>
                      <a:r>
                        <a:rPr lang="en-US" sz="2000" b="1" dirty="0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dominance </a:t>
                      </a:r>
                      <a:r>
                        <a:rPr lang="en-US" sz="2000" b="1" dirty="0" err="1"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억제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85.75%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3" name="Google Shape;413;g3ca06bb47b3_13_35"/>
          <p:cNvSpPr/>
          <p:nvPr/>
        </p:nvSpPr>
        <p:spPr>
          <a:xfrm flipH="1">
            <a:off x="5539125" y="7030025"/>
            <a:ext cx="3115800" cy="28410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g3ca06bb47b3_13_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ca06bb47b3_13_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3ca06bb47b3_13_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ca06bb47b3_13_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ca06bb47b3_13_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ca06bb47b3_13_5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ca06bb47b3_13_52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ca06bb47b3_13_5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3ca06bb47b3_13_5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ca06bb47b3_13_52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ca06bb47b3_13_5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ca06bb47b3_13_52"/>
          <p:cNvSpPr txBox="1"/>
          <p:nvPr/>
        </p:nvSpPr>
        <p:spPr>
          <a:xfrm>
            <a:off x="1411725" y="1166650"/>
            <a:ext cx="16059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EfficientNet-B2: Class 불균형 해소</a:t>
            </a:r>
            <a:endParaRPr/>
          </a:p>
        </p:txBody>
      </p:sp>
      <p:pic>
        <p:nvPicPr>
          <p:cNvPr id="430" name="Google Shape;430;g3ca06bb47b3_13_5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ca06bb47b3_13_52" title="output (2)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03993" y="5421887"/>
            <a:ext cx="12277725" cy="465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2" name="Google Shape;432;g3ca06bb47b3_13_52"/>
          <p:cNvGraphicFramePr/>
          <p:nvPr>
            <p:extLst>
              <p:ext uri="{D42A27DB-BD31-4B8C-83A1-F6EECF244321}">
                <p14:modId xmlns:p14="http://schemas.microsoft.com/office/powerpoint/2010/main" val="2118388459"/>
              </p:ext>
            </p:extLst>
          </p:nvPr>
        </p:nvGraphicFramePr>
        <p:xfrm>
          <a:off x="4247641" y="2580255"/>
          <a:ext cx="9325484" cy="28416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6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38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기법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Test Acc</a:t>
                      </a:r>
                      <a:endParaRPr sz="2000" b="1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38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Class-conditional Augmentation 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82.10%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38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Oversampling</a:t>
                      </a:r>
                      <a:endParaRPr sz="2000" b="1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83.15%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38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Label Smoothing</a:t>
                      </a:r>
                      <a:endParaRPr sz="2000" b="1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85.01%</a:t>
                      </a:r>
                      <a:endParaRPr sz="2000" b="1" dirty="0">
                        <a:solidFill>
                          <a:schemeClr val="dk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3" name="Google Shape;433;g3ca06bb47b3_13_52"/>
          <p:cNvSpPr/>
          <p:nvPr/>
        </p:nvSpPr>
        <p:spPr>
          <a:xfrm flipH="1">
            <a:off x="5548650" y="7036464"/>
            <a:ext cx="3115800" cy="30954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g3ca06bb47b3_13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ca06bb47b3_13_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ca06bb47b3_13_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ca06bb47b3_13_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ca06bb47b3_13_6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ca06bb47b3_13_6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ca06bb47b3_13_69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ca06bb47b3_13_6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ca06bb47b3_13_6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ca06bb47b3_13_69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ca06bb47b3_13_6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ca06bb47b3_13_69"/>
          <p:cNvSpPr txBox="1"/>
          <p:nvPr/>
        </p:nvSpPr>
        <p:spPr>
          <a:xfrm>
            <a:off x="1411728" y="1166650"/>
            <a:ext cx="1144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03. EfficientNet-B2: Final Model</a:t>
            </a:r>
            <a:endParaRPr/>
          </a:p>
        </p:txBody>
      </p:sp>
      <p:pic>
        <p:nvPicPr>
          <p:cNvPr id="450" name="Google Shape;450;g3ca06bb47b3_13_6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ca06bb47b3_13_69"/>
          <p:cNvSpPr txBox="1"/>
          <p:nvPr/>
        </p:nvSpPr>
        <p:spPr>
          <a:xfrm>
            <a:off x="2294659" y="3129050"/>
            <a:ext cx="12469800" cy="784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Model Architecture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Compound Scaling Model (EfficientNet-B2, 9.9M parameters)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50800"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Transfer Learning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AffectNet</a:t>
            </a: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pre-trained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2-phase training</a:t>
            </a:r>
          </a:p>
          <a:p>
            <a:pPr marL="508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Optimization &amp; Regularization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Weighted Cross Entropy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4064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Label Smoothing</a:t>
            </a: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g3ca06bb47b3_0_0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g3ca06bb47b3_0_0"/>
          <p:cNvGrpSpPr/>
          <p:nvPr/>
        </p:nvGrpSpPr>
        <p:grpSpPr>
          <a:xfrm>
            <a:off x="-5088881" y="-5222326"/>
            <a:ext cx="20355524" cy="20892577"/>
            <a:chOff x="-5088881" y="-5249920"/>
            <a:chExt cx="20355524" cy="20999676"/>
          </a:xfrm>
        </p:grpSpPr>
        <p:pic>
          <p:nvPicPr>
            <p:cNvPr id="446" name="Google Shape;446;g3ca06bb47b3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4"/>
              <a:ext cx="20999676" cy="2035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g3ca06bb47b3_0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8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8" name="Google Shape;448;g3ca06bb47b3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ca06bb47b3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ca06bb47b3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4" cy="753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ca06bb47b3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ca06bb47b3_0_0"/>
          <p:cNvSpPr txBox="1"/>
          <p:nvPr/>
        </p:nvSpPr>
        <p:spPr>
          <a:xfrm>
            <a:off x="11015021" y="5199173"/>
            <a:ext cx="529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</a:t>
            </a:r>
            <a:endParaRPr sz="4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g3ca06bb47b3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ca06bb47b3_0_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ca06bb47b3_0_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g3ca06bb47b3_0_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ca06bb47b3_0_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ca06bb47b3_0_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ca06bb47b3_0_36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ca06bb47b3_0_3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ca06bb47b3_0_3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ca06bb47b3_0_36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ca06bb47b3_0_3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ca06bb47b3_0_36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Emotion Probability</a:t>
            </a:r>
            <a:endParaRPr/>
          </a:p>
        </p:txBody>
      </p:sp>
      <p:sp>
        <p:nvSpPr>
          <p:cNvPr id="469" name="Google Shape;469;g3ca06bb47b3_0_36"/>
          <p:cNvSpPr txBox="1"/>
          <p:nvPr/>
        </p:nvSpPr>
        <p:spPr>
          <a:xfrm>
            <a:off x="2914370" y="7030013"/>
            <a:ext cx="128016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Model: EfiicientNet-B2</a:t>
            </a:r>
            <a:endParaRPr sz="2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Dataset: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AffectNet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Pretrained</a:t>
            </a:r>
            <a:endParaRPr sz="2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Performance: Validation ACC 85.01%</a:t>
            </a:r>
            <a:endParaRPr sz="2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Output: 7-Class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Softmax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endParaRPr>
          </a:p>
        </p:txBody>
      </p:sp>
      <p:pic>
        <p:nvPicPr>
          <p:cNvPr id="470" name="Google Shape;470;g3ca06bb47b3_0_3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ca06bb47b3_0_36"/>
          <p:cNvSpPr txBox="1"/>
          <p:nvPr/>
        </p:nvSpPr>
        <p:spPr>
          <a:xfrm>
            <a:off x="2138975" y="2746825"/>
            <a:ext cx="57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Emotion Probability</a:t>
            </a:r>
            <a:endParaRPr/>
          </a:p>
        </p:txBody>
      </p:sp>
      <p:pic>
        <p:nvPicPr>
          <p:cNvPr id="472" name="Google Shape;472;g3ca06bb47b3_0_36"/>
          <p:cNvPicPr preferRelativeResize="0"/>
          <p:nvPr/>
        </p:nvPicPr>
        <p:blipFill rotWithShape="1">
          <a:blip r:embed="rId15">
            <a:alphaModFix/>
          </a:blip>
          <a:srcRect l="3993" t="5618" r="13149" b="7537"/>
          <a:stretch/>
        </p:blipFill>
        <p:spPr>
          <a:xfrm>
            <a:off x="3055650" y="3871000"/>
            <a:ext cx="2659058" cy="2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ca06bb47b3_0_3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714708" y="3871000"/>
            <a:ext cx="8848625" cy="28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g3ca06bb47b3_0_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ca06bb47b3_0_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ca06bb47b3_0_1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ca06bb47b3_0_10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ca06bb47b3_0_10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ca06bb47b3_0_10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ca06bb47b3_0_109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ca06bb47b3_0_10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ca06bb47b3_0_10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ca06bb47b3_0_109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ca06bb47b3_0_10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ca06bb47b3_0_109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Condition Score</a:t>
            </a:r>
            <a:endParaRPr/>
          </a:p>
        </p:txBody>
      </p:sp>
      <p:sp>
        <p:nvSpPr>
          <p:cNvPr id="490" name="Google Shape;490;g3ca06bb47b3_0_109"/>
          <p:cNvSpPr txBox="1"/>
          <p:nvPr/>
        </p:nvSpPr>
        <p:spPr>
          <a:xfrm>
            <a:off x="4611063" y="6193975"/>
            <a:ext cx="9063600" cy="493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감정별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심리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가중치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부여</a:t>
            </a:r>
            <a:endParaRPr sz="24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Positive(+): Happy(+50), Surprise(+20)</a:t>
            </a:r>
            <a:endParaRPr sz="24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Negative(-): Sad(-20), Fear(-30), Angry(-35), Disgust(-40)</a:t>
            </a:r>
            <a:endParaRPr sz="24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정규화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(Normalization):</a:t>
            </a:r>
            <a:endParaRPr sz="24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Min-Max Scaling: 0~100점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척도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변환</a:t>
            </a:r>
            <a:endParaRPr sz="24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직관적인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배터리</a:t>
            </a:r>
            <a:r>
              <a:rPr lang="en-US" sz="24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Indicator UI </a:t>
            </a:r>
            <a:r>
              <a:rPr lang="en-US" sz="24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제공</a:t>
            </a:r>
            <a:endParaRPr sz="24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9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91" name="Google Shape;491;g3ca06bb47b3_0_10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ca06bb47b3_0_109"/>
          <p:cNvSpPr txBox="1"/>
          <p:nvPr/>
        </p:nvSpPr>
        <p:spPr>
          <a:xfrm>
            <a:off x="2138975" y="2746825"/>
            <a:ext cx="57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Condition Score</a:t>
            </a:r>
            <a:endParaRPr/>
          </a:p>
        </p:txBody>
      </p:sp>
      <p:pic>
        <p:nvPicPr>
          <p:cNvPr id="493" name="Google Shape;493;g3ca06bb47b3_0_10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18475" y="4226704"/>
            <a:ext cx="8061301" cy="12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ca06bb47b3_0_109"/>
          <p:cNvPicPr preferRelativeResize="0"/>
          <p:nvPr/>
        </p:nvPicPr>
        <p:blipFill rotWithShape="1">
          <a:blip r:embed="rId16">
            <a:alphaModFix/>
          </a:blip>
          <a:srcRect l="15946" t="26399" r="14386" b="26475"/>
          <a:stretch/>
        </p:blipFill>
        <p:spPr>
          <a:xfrm>
            <a:off x="3262450" y="3831224"/>
            <a:ext cx="3808075" cy="20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g3ca06bb47b3_0_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ca06bb47b3_0_2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ca06bb47b3_0_20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ca06bb47b3_0_20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ca06bb47b3_0_20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3ca06bb47b3_0_20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g3ca06bb47b3_0_200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ca06bb47b3_0_20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ca06bb47b3_0_20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ca06bb47b3_0_200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ca06bb47b3_0_20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ca06bb47b3_0_200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Condition Score</a:t>
            </a:r>
            <a:endParaRPr/>
          </a:p>
        </p:txBody>
      </p:sp>
      <p:pic>
        <p:nvPicPr>
          <p:cNvPr id="511" name="Google Shape;511;g3ca06bb47b3_0_20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ca06bb47b3_0_200"/>
          <p:cNvSpPr txBox="1"/>
          <p:nvPr/>
        </p:nvSpPr>
        <p:spPr>
          <a:xfrm>
            <a:off x="2138975" y="2746825"/>
            <a:ext cx="13512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Weight for Condition Score (Heuristic Method)</a:t>
            </a:r>
            <a:endParaRPr/>
          </a:p>
        </p:txBody>
      </p:sp>
      <p:pic>
        <p:nvPicPr>
          <p:cNvPr id="513" name="Google Shape;513;g3ca06bb47b3_0_2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40850" y="3945925"/>
            <a:ext cx="12469673" cy="6154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g3ca06bb47b3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3ca06bb47b3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ca06bb47b3_0_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ca06bb47b3_0_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ca06bb47b3_0_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3ca06bb47b3_0_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3ca06bb47b3_0_12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g3ca06bb47b3_0_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ca06bb47b3_0_1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ca06bb47b3_0_12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ca06bb47b3_0_1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ca06bb47b3_0_12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Synthesis</a:t>
            </a:r>
            <a:endParaRPr/>
          </a:p>
        </p:txBody>
      </p:sp>
      <p:sp>
        <p:nvSpPr>
          <p:cNvPr id="530" name="Google Shape;530;g3ca06bb47b3_0_12"/>
          <p:cNvSpPr txBox="1"/>
          <p:nvPr/>
        </p:nvSpPr>
        <p:spPr>
          <a:xfrm>
            <a:off x="2967607" y="7254025"/>
            <a:ext cx="3897600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Emotional Color 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추출된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감정을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바탕으로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심리적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균형을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돕는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베이스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컬러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도출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endParaRPr>
          </a:p>
        </p:txBody>
      </p:sp>
      <p:pic>
        <p:nvPicPr>
          <p:cNvPr id="531" name="Google Shape;531;g3ca06bb47b3_0_1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ca06bb47b3_0_12"/>
          <p:cNvSpPr txBox="1"/>
          <p:nvPr/>
        </p:nvSpPr>
        <p:spPr>
          <a:xfrm>
            <a:off x="2138975" y="2746825"/>
            <a:ext cx="1216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Synthesis: Emotional Color + Personal Color </a:t>
            </a:r>
            <a:endParaRPr/>
          </a:p>
        </p:txBody>
      </p:sp>
      <p:pic>
        <p:nvPicPr>
          <p:cNvPr id="533" name="Google Shape;533;g3ca06bb47b3_0_1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64225" y="3923250"/>
            <a:ext cx="4564800" cy="247259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pic>
        <p:nvPicPr>
          <p:cNvPr id="534" name="Google Shape;534;g3ca06bb47b3_0_1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692050" y="4004900"/>
            <a:ext cx="4430530" cy="2390950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sp>
        <p:nvSpPr>
          <p:cNvPr id="535" name="Google Shape;535;g3ca06bb47b3_0_12"/>
          <p:cNvSpPr/>
          <p:nvPr/>
        </p:nvSpPr>
        <p:spPr>
          <a:xfrm>
            <a:off x="8087163" y="5042975"/>
            <a:ext cx="2234400" cy="831000"/>
          </a:xfrm>
          <a:prstGeom prst="rightArrow">
            <a:avLst>
              <a:gd name="adj1" fmla="val 17058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ca06bb47b3_0_12"/>
          <p:cNvSpPr txBox="1"/>
          <p:nvPr/>
        </p:nvSpPr>
        <p:spPr>
          <a:xfrm>
            <a:off x="6409750" y="8290525"/>
            <a:ext cx="5071800" cy="189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Personal Color 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고유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특징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추출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색상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(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머리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색깔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눈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색깔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피부톤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endParaRPr>
          </a:p>
        </p:txBody>
      </p:sp>
      <p:sp>
        <p:nvSpPr>
          <p:cNvPr id="537" name="Google Shape;537;g3ca06bb47b3_0_12"/>
          <p:cNvSpPr/>
          <p:nvPr/>
        </p:nvSpPr>
        <p:spPr>
          <a:xfrm>
            <a:off x="9034875" y="5456525"/>
            <a:ext cx="135300" cy="2567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ca06bb47b3_0_12"/>
          <p:cNvSpPr txBox="1"/>
          <p:nvPr/>
        </p:nvSpPr>
        <p:spPr>
          <a:xfrm>
            <a:off x="10321582" y="7150643"/>
            <a:ext cx="52446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Today’s Color </a:t>
            </a:r>
            <a:endParaRPr sz="2600" b="1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퍼스널 보정된 감정 기반 색상</a:t>
            </a:r>
            <a:endParaRPr sz="2600" b="1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g3ca06bb47b3_0_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ca06bb47b3_0_2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3ca06bb47b3_0_2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3ca06bb47b3_0_2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ca06bb47b3_0_2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ca06bb47b3_0_2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ca06bb47b3_0_247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ca06bb47b3_0_2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3ca06bb47b3_0_24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3ca06bb47b3_0_247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3ca06bb47b3_0_24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ca06bb47b3_0_247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Emotional Color</a:t>
            </a:r>
            <a:endParaRPr/>
          </a:p>
        </p:txBody>
      </p:sp>
      <p:pic>
        <p:nvPicPr>
          <p:cNvPr id="555" name="Google Shape;555;g3ca06bb47b3_0_24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ca06bb47b3_0_247"/>
          <p:cNvSpPr txBox="1"/>
          <p:nvPr/>
        </p:nvSpPr>
        <p:spPr>
          <a:xfrm>
            <a:off x="2138975" y="2746825"/>
            <a:ext cx="57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o Hyeon"/>
              <a:buAutoNum type="arabicPeriod"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Emotional Color</a:t>
            </a:r>
            <a:endParaRPr/>
          </a:p>
        </p:txBody>
      </p:sp>
      <p:pic>
        <p:nvPicPr>
          <p:cNvPr id="557" name="Google Shape;557;g3ca06bb47b3_0_24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001725" y="4793550"/>
            <a:ext cx="49244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3ca06bb47b3_0_24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609812" y="5063088"/>
            <a:ext cx="47244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g3ca06bb47b3_0_247"/>
          <p:cNvSpPr txBox="1"/>
          <p:nvPr/>
        </p:nvSpPr>
        <p:spPr>
          <a:xfrm>
            <a:off x="5777950" y="3870150"/>
            <a:ext cx="7622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감정 → 심리보완색 매핑</a:t>
            </a:r>
            <a:endParaRPr/>
          </a:p>
        </p:txBody>
      </p:sp>
      <p:pic>
        <p:nvPicPr>
          <p:cNvPr id="560" name="Google Shape;560;g3ca06bb47b3_0_24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750138" y="5063107"/>
            <a:ext cx="24098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ca06bb47b3_0_247"/>
          <p:cNvSpPr/>
          <p:nvPr/>
        </p:nvSpPr>
        <p:spPr>
          <a:xfrm>
            <a:off x="9258875" y="5180825"/>
            <a:ext cx="34500" cy="4454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g3ca06bb47b3_0_24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4228192" y="5205532"/>
            <a:ext cx="22098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ca06bb47b3_0_247"/>
          <p:cNvSpPr txBox="1"/>
          <p:nvPr/>
        </p:nvSpPr>
        <p:spPr>
          <a:xfrm>
            <a:off x="9752825" y="8736525"/>
            <a:ext cx="6794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Char char="●"/>
            </a:pPr>
            <a:r>
              <a:rPr lang="en-US" sz="1800" b="1">
                <a:solidFill>
                  <a:srgbClr val="888888"/>
                </a:solidFill>
              </a:rPr>
              <a:t>Kaya, N., &amp; Epps, H. H. (2004). "Relationship between color and emotion: A study of college students." </a:t>
            </a:r>
            <a:r>
              <a:rPr lang="en-US" sz="1800" b="1" i="1">
                <a:solidFill>
                  <a:srgbClr val="888888"/>
                </a:solidFill>
              </a:rPr>
              <a:t>College Student Journal</a:t>
            </a:r>
            <a:r>
              <a:rPr lang="en-US" sz="1800" b="1">
                <a:solidFill>
                  <a:srgbClr val="888888"/>
                </a:solidFill>
              </a:rPr>
              <a:t>.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g3ca06bb47b3_0_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g3ca06bb47b3_0_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g3ca06bb47b3_0_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g3ca06bb47b3_0_8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ca06bb47b3_0_8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3ca06bb47b3_0_8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ca06bb47b3_0_81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ca06bb47b3_0_8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ca06bb47b3_0_8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ca06bb47b3_0_81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ca06bb47b3_0_8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ca06bb47b3_0_81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Emotional Color</a:t>
            </a:r>
            <a:endParaRPr/>
          </a:p>
        </p:txBody>
      </p:sp>
      <p:pic>
        <p:nvPicPr>
          <p:cNvPr id="580" name="Google Shape;580;g3ca06bb47b3_0_8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ca06bb47b3_0_81"/>
          <p:cNvSpPr txBox="1"/>
          <p:nvPr/>
        </p:nvSpPr>
        <p:spPr>
          <a:xfrm>
            <a:off x="2138975" y="2746825"/>
            <a:ext cx="57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o Hyeon"/>
              <a:buAutoNum type="arabicPeriod"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Emotional Color</a:t>
            </a:r>
            <a:endParaRPr/>
          </a:p>
        </p:txBody>
      </p:sp>
      <p:sp>
        <p:nvSpPr>
          <p:cNvPr id="582" name="Google Shape;582;g3ca06bb47b3_0_81"/>
          <p:cNvSpPr txBox="1"/>
          <p:nvPr/>
        </p:nvSpPr>
        <p:spPr>
          <a:xfrm>
            <a:off x="4503075" y="3870150"/>
            <a:ext cx="9796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Top3 Emotional Color Blending</a:t>
            </a:r>
            <a:endParaRPr/>
          </a:p>
        </p:txBody>
      </p:sp>
      <p:pic>
        <p:nvPicPr>
          <p:cNvPr id="583" name="Google Shape;583;g3ca06bb47b3_0_8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84200" y="5463652"/>
            <a:ext cx="5551225" cy="4075998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3ca06bb47b3_0_81"/>
          <p:cNvSpPr/>
          <p:nvPr/>
        </p:nvSpPr>
        <p:spPr>
          <a:xfrm rot="5534600">
            <a:off x="6415470" y="6326196"/>
            <a:ext cx="3502484" cy="2324666"/>
          </a:xfrm>
          <a:prstGeom prst="blockArc">
            <a:avLst>
              <a:gd name="adj1" fmla="val 10779991"/>
              <a:gd name="adj2" fmla="val 21108576"/>
              <a:gd name="adj3" fmla="val 5445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ca06bb47b3_0_81"/>
          <p:cNvSpPr/>
          <p:nvPr/>
        </p:nvSpPr>
        <p:spPr>
          <a:xfrm>
            <a:off x="9258875" y="7145175"/>
            <a:ext cx="2460000" cy="568500"/>
          </a:xfrm>
          <a:prstGeom prst="rightArrow">
            <a:avLst>
              <a:gd name="adj1" fmla="val 21187"/>
              <a:gd name="adj2" fmla="val 75062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6" name="Google Shape;586;g3ca06bb47b3_0_8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063125" y="6068750"/>
            <a:ext cx="2865800" cy="28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g3ca06bb47b3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3ca06bb47b3_0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ca06bb47b3_0_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ca06bb47b3_0_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3ca06bb47b3_0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g3ca06bb47b3_0_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3ca06bb47b3_0_60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g3ca06bb47b3_0_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g3ca06bb47b3_0_6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g3ca06bb47b3_0_60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g3ca06bb47b3_0_6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g3ca06bb47b3_0_60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Personal Color</a:t>
            </a:r>
            <a:endParaRPr/>
          </a:p>
        </p:txBody>
      </p:sp>
      <p:sp>
        <p:nvSpPr>
          <p:cNvPr id="603" name="Google Shape;603;g3ca06bb47b3_0_60"/>
          <p:cNvSpPr txBox="1"/>
          <p:nvPr/>
        </p:nvSpPr>
        <p:spPr>
          <a:xfrm>
            <a:off x="2914370" y="7030013"/>
            <a:ext cx="128016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MediaPipe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FaceLandmarker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478개 3D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랜드마크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기반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초정밀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부위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  <a:endParaRPr sz="26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Target Area: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피부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양볼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20pts),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눈동자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홍채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10pts),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머리카락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(BBOX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필터링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endParaRPr sz="2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Algorithm: K-Means Clustering (k=3,4)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적용</a:t>
            </a:r>
            <a:endParaRPr sz="2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marR="0" lvl="0" indent="-3937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Color Space: RGB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픽셀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→ CIE LAB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색공간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6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변환</a:t>
            </a:r>
            <a:r>
              <a:rPr lang="en-US" sz="26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(Hex-code)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endParaRPr>
          </a:p>
        </p:txBody>
      </p:sp>
      <p:pic>
        <p:nvPicPr>
          <p:cNvPr id="604" name="Google Shape;604;g3ca06bb47b3_0_6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g3ca06bb47b3_0_60"/>
          <p:cNvSpPr txBox="1"/>
          <p:nvPr/>
        </p:nvSpPr>
        <p:spPr>
          <a:xfrm>
            <a:off x="2138975" y="2746825"/>
            <a:ext cx="57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2. Personal Color</a:t>
            </a:r>
            <a:endParaRPr/>
          </a:p>
        </p:txBody>
      </p:sp>
      <p:pic>
        <p:nvPicPr>
          <p:cNvPr id="606" name="Google Shape;606;g3ca06bb47b3_0_6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75075" y="3894974"/>
            <a:ext cx="4997951" cy="26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ca06bb47b3_0_6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150124" y="5332613"/>
            <a:ext cx="6400237" cy="12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g3ca06bb47b3_0_6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191000" y="3943600"/>
            <a:ext cx="6318463" cy="9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g3ca06bb47b3_0_2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g3ca06bb47b3_0_2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3ca06bb47b3_0_2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g3ca06bb47b3_0_27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g3ca06bb47b3_0_27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g3ca06bb47b3_0_27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g3ca06bb47b3_0_276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3ca06bb47b3_0_27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g3ca06bb47b3_0_27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g3ca06bb47b3_0_276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g3ca06bb47b3_0_27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g3ca06bb47b3_0_276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Personal Color</a:t>
            </a:r>
            <a:endParaRPr/>
          </a:p>
        </p:txBody>
      </p:sp>
      <p:sp>
        <p:nvSpPr>
          <p:cNvPr id="625" name="Google Shape;625;g3ca06bb47b3_0_276"/>
          <p:cNvSpPr txBox="1"/>
          <p:nvPr/>
        </p:nvSpPr>
        <p:spPr>
          <a:xfrm>
            <a:off x="9384032" y="4652140"/>
            <a:ext cx="6888000" cy="421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X축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(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온도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/Tone):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피부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LAB공간의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B값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기준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(True Cool ~ True Warm)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Y축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(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명도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/Lightness):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피부·머리·눈의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L값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가중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평균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         (Very Light ~ Very Dark)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Result: 16가지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맞춤형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Personal Color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타입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도출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Adjustment: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타입별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고유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LAB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보정량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부여</a:t>
            </a: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sz="26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26" name="Google Shape;626;g3ca06bb47b3_0_27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ca06bb47b3_0_276"/>
          <p:cNvSpPr txBox="1"/>
          <p:nvPr/>
        </p:nvSpPr>
        <p:spPr>
          <a:xfrm>
            <a:off x="2138975" y="2626207"/>
            <a:ext cx="14322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2. Personal Color: 16-Color Grid Classification</a:t>
            </a:r>
            <a:endParaRPr/>
          </a:p>
        </p:txBody>
      </p:sp>
      <p:pic>
        <p:nvPicPr>
          <p:cNvPr id="628" name="Google Shape;628;g3ca06bb47b3_0_27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294650" y="3641888"/>
            <a:ext cx="6148524" cy="1183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ca06bb47b3_0_276"/>
          <p:cNvPicPr preferRelativeResize="0"/>
          <p:nvPr/>
        </p:nvPicPr>
        <p:blipFill rotWithShape="1">
          <a:blip r:embed="rId16">
            <a:alphaModFix/>
          </a:blip>
          <a:srcRect l="1183" t="5042" r="4893"/>
          <a:stretch/>
        </p:blipFill>
        <p:spPr>
          <a:xfrm>
            <a:off x="2294650" y="4825213"/>
            <a:ext cx="6148525" cy="535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g3ca06bb47b3_0_276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974220" y="6547502"/>
            <a:ext cx="5867025" cy="5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g3ca06bb47b3_7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g3ca06bb47b3_7_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ca06bb47b3_7_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g3ca06bb47b3_7_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g3ca06bb47b3_7_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ca06bb47b3_7_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g3ca06bb47b3_7_21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g3ca06bb47b3_7_2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g3ca06bb47b3_7_2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g3ca06bb47b3_7_21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g3ca06bb47b3_7_2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g3ca06bb47b3_7_21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04.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Color Matching - Synthesis</a:t>
            </a:r>
            <a:endParaRPr/>
          </a:p>
        </p:txBody>
      </p:sp>
      <p:pic>
        <p:nvPicPr>
          <p:cNvPr id="647" name="Google Shape;647;g3ca06bb47b3_7_2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ca06bb47b3_7_21"/>
          <p:cNvSpPr txBox="1"/>
          <p:nvPr/>
        </p:nvSpPr>
        <p:spPr>
          <a:xfrm>
            <a:off x="2138975" y="2746825"/>
            <a:ext cx="1216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Synthesis: Emotional Color + Personal Color </a:t>
            </a:r>
            <a:endParaRPr/>
          </a:p>
        </p:txBody>
      </p:sp>
      <p:pic>
        <p:nvPicPr>
          <p:cNvPr id="649" name="Google Shape;649;g3ca06bb47b3_7_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64225" y="3923250"/>
            <a:ext cx="4564800" cy="247259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pic>
        <p:nvPicPr>
          <p:cNvPr id="650" name="Google Shape;650;g3ca06bb47b3_7_2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692050" y="4004900"/>
            <a:ext cx="4430530" cy="2390950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sp>
        <p:nvSpPr>
          <p:cNvPr id="651" name="Google Shape;651;g3ca06bb47b3_7_21"/>
          <p:cNvSpPr/>
          <p:nvPr/>
        </p:nvSpPr>
        <p:spPr>
          <a:xfrm>
            <a:off x="8087163" y="5042975"/>
            <a:ext cx="2234400" cy="831000"/>
          </a:xfrm>
          <a:prstGeom prst="rightArrow">
            <a:avLst>
              <a:gd name="adj1" fmla="val 17058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2" name="Google Shape;652;g3ca06bb47b3_7_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31388" y="7803050"/>
            <a:ext cx="5222950" cy="74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3ca06bb47b3_7_2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566988" y="8656324"/>
            <a:ext cx="5222950" cy="71221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3ca06bb47b3_7_21"/>
          <p:cNvSpPr/>
          <p:nvPr/>
        </p:nvSpPr>
        <p:spPr>
          <a:xfrm>
            <a:off x="9034775" y="5456525"/>
            <a:ext cx="135300" cy="2391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g3ca06bb47b3_0_129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0" name="Google Shape;660;g3ca06bb47b3_0_129"/>
          <p:cNvGrpSpPr/>
          <p:nvPr/>
        </p:nvGrpSpPr>
        <p:grpSpPr>
          <a:xfrm>
            <a:off x="-5088881" y="-5222326"/>
            <a:ext cx="20355524" cy="20892577"/>
            <a:chOff x="-5088881" y="-5249920"/>
            <a:chExt cx="20355524" cy="20999676"/>
          </a:xfrm>
        </p:grpSpPr>
        <p:pic>
          <p:nvPicPr>
            <p:cNvPr id="661" name="Google Shape;661;g3ca06bb47b3_0_1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4"/>
              <a:ext cx="20999676" cy="2035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g3ca06bb47b3_0_1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8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3" name="Google Shape;663;g3ca06bb47b3_0_1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g3ca06bb47b3_0_1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g3ca06bb47b3_0_1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4" cy="753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g3ca06bb47b3_0_12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g3ca06bb47b3_0_129"/>
          <p:cNvSpPr txBox="1"/>
          <p:nvPr/>
        </p:nvSpPr>
        <p:spPr>
          <a:xfrm>
            <a:off x="11015021" y="5199173"/>
            <a:ext cx="529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05.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User Interface</a:t>
            </a:r>
            <a:endParaRPr sz="4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g3ca06bb47b3_7_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3ca06bb47b3_7_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g3ca06bb47b3_7_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g3ca06bb47b3_7_8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g3ca06bb47b3_7_8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g3ca06bb47b3_7_8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3ca06bb47b3_7_80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ca06bb47b3_7_8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g3ca06bb47b3_7_8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g3ca06bb47b3_7_80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g3ca06bb47b3_7_8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ca06bb47b3_7_80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05.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User Interface</a:t>
            </a:r>
            <a:endParaRPr/>
          </a:p>
        </p:txBody>
      </p:sp>
      <p:sp>
        <p:nvSpPr>
          <p:cNvPr id="684" name="Google Shape;684;g3ca06bb47b3_7_80"/>
          <p:cNvSpPr txBox="1"/>
          <p:nvPr/>
        </p:nvSpPr>
        <p:spPr>
          <a:xfrm>
            <a:off x="2914370" y="7030013"/>
            <a:ext cx="1280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g3ca06bb47b3_7_8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g3ca06bb47b3_7_8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090550" y="3105025"/>
            <a:ext cx="10449250" cy="68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g3ca06bb47b3_0_1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ca06bb47b3_0_1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g3ca06bb47b3_0_17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g3ca06bb47b3_0_17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g3ca06bb47b3_0_17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3ca06bb47b3_0_17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g3ca06bb47b3_0_174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ca06bb47b3_0_17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ca06bb47b3_0_17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g3ca06bb47b3_0_174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ca06bb47b3_0_17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g3ca06bb47b3_0_174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05.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User Interface</a:t>
            </a:r>
            <a:endParaRPr/>
          </a:p>
        </p:txBody>
      </p:sp>
      <p:sp>
        <p:nvSpPr>
          <p:cNvPr id="703" name="Google Shape;703;g3ca06bb47b3_0_174"/>
          <p:cNvSpPr txBox="1"/>
          <p:nvPr/>
        </p:nvSpPr>
        <p:spPr>
          <a:xfrm>
            <a:off x="2914370" y="7030013"/>
            <a:ext cx="1280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g3ca06bb47b3_0_17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g3ca06bb47b3_0_174" title="image (4)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279495" y="3208425"/>
            <a:ext cx="6665080" cy="674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g3ca06bb47b3_0_174" title="image (2)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373532" y="3208424"/>
            <a:ext cx="6544074" cy="671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g3ca06bb47b3_7_49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2" name="Google Shape;712;g3ca06bb47b3_7_49"/>
          <p:cNvGrpSpPr/>
          <p:nvPr/>
        </p:nvGrpSpPr>
        <p:grpSpPr>
          <a:xfrm>
            <a:off x="-5088881" y="-5222326"/>
            <a:ext cx="20355524" cy="20892577"/>
            <a:chOff x="-5088881" y="-5249920"/>
            <a:chExt cx="20355524" cy="20999676"/>
          </a:xfrm>
        </p:grpSpPr>
        <p:pic>
          <p:nvPicPr>
            <p:cNvPr id="713" name="Google Shape;713;g3ca06bb47b3_7_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4"/>
              <a:ext cx="20999676" cy="2035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4" name="Google Shape;714;g3ca06bb47b3_7_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8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15" name="Google Shape;715;g3ca06bb47b3_7_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g3ca06bb47b3_7_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g3ca06bb47b3_7_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4" cy="753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g3ca06bb47b3_7_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g3ca06bb47b3_7_49"/>
          <p:cNvSpPr txBox="1"/>
          <p:nvPr/>
        </p:nvSpPr>
        <p:spPr>
          <a:xfrm>
            <a:off x="11015021" y="5199173"/>
            <a:ext cx="529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06.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Conclusion</a:t>
            </a:r>
            <a:endParaRPr sz="4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g3ca06bb47b3_7_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ca06bb47b3_7_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g3ca06bb47b3_7_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g3ca06bb47b3_7_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g3ca06bb47b3_7_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3ca06bb47b3_7_6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ca06bb47b3_7_61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g3ca06bb47b3_7_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3ca06bb47b3_7_6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g3ca06bb47b3_7_61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g3ca06bb47b3_7_6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g3ca06bb47b3_7_61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06.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Conclusion</a:t>
            </a:r>
            <a:endParaRPr/>
          </a:p>
        </p:txBody>
      </p:sp>
      <p:pic>
        <p:nvPicPr>
          <p:cNvPr id="748" name="Google Shape;748;g3ca06bb47b3_7_6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g3ca06bb47b3_7_61"/>
          <p:cNvSpPr txBox="1"/>
          <p:nvPr/>
        </p:nvSpPr>
        <p:spPr>
          <a:xfrm>
            <a:off x="2271356" y="2557984"/>
            <a:ext cx="13743000" cy="759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Transfer Learning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ImageNet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대신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대규모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얼굴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데이터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가번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사전학습된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가중치를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사용하여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얼굴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구조에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특화된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feature를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FER에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효과적으로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전이</a:t>
            </a:r>
            <a:endParaRPr lang="en-US"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Graph Neural Network</a:t>
            </a:r>
          </a:p>
          <a:p>
            <a:pPr marL="5588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얼굴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랜드마크를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그래프로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모델링하여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랜드마크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간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공간적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관계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및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기하학적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구조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정보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보강</a:t>
            </a:r>
            <a:endParaRPr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더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정밀한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랜드마크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사용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시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성능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향상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가능</a:t>
            </a:r>
            <a:endParaRPr lang="en-US"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Condition Injection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GCN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임베딩을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ResNet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중간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레이어에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FiLM방식으로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주입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. landmark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관련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조건을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효과적으로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conditioning</a:t>
            </a:r>
            <a:endParaRPr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더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복잡한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조건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정보에는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cross-attention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구조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고려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가능</a:t>
            </a:r>
            <a:endParaRPr lang="en-US"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200" b="1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Class Imbalance</a:t>
            </a:r>
            <a:endParaRPr sz="2200" b="1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Disgust/Fear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데이터가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약 1/8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수준으로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심한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불균형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존재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endParaRPr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5588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class weighted loss, focal loss,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oversamling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, label smoothing 등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적용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→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소수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클래스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성능을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향상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.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다만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전체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정확도는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소폭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감소함을</a:t>
            </a:r>
            <a:r>
              <a:rPr lang="en-US" sz="2200" dirty="0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chemeClr val="dk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rPr>
              <a:t>보임</a:t>
            </a:r>
            <a:endParaRPr sz="2200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2200" b="1" dirty="0">
              <a:solidFill>
                <a:srgbClr val="F6F6F4"/>
              </a:solidFill>
              <a:highlight>
                <a:srgbClr val="262626"/>
              </a:highlight>
              <a:latin typeface="나눔스퀘어_ac Bold" panose="020B0600000101010101" pitchFamily="50" charset="-127"/>
              <a:ea typeface="나눔스퀘어_ac Bold" panose="020B0600000101010101" pitchFamily="50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g3ca06bb47b3_0_141"/>
          <p:cNvPicPr preferRelativeResize="0"/>
          <p:nvPr/>
        </p:nvPicPr>
        <p:blipFill rotWithShape="1">
          <a:blip r:embed="rId3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3" name="Google Shape;743;g3ca06bb47b3_0_141"/>
          <p:cNvGrpSpPr/>
          <p:nvPr/>
        </p:nvGrpSpPr>
        <p:grpSpPr>
          <a:xfrm>
            <a:off x="-5088881" y="-5222326"/>
            <a:ext cx="20355524" cy="20892577"/>
            <a:chOff x="-5088881" y="-5249920"/>
            <a:chExt cx="20355524" cy="20999676"/>
          </a:xfrm>
        </p:grpSpPr>
        <p:pic>
          <p:nvPicPr>
            <p:cNvPr id="744" name="Google Shape;744;g3ca06bb47b3_0_1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-5410957" y="-4927844"/>
              <a:ext cx="20999676" cy="2035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5" name="Google Shape;745;g3ca06bb47b3_0_14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161037" y="161037"/>
              <a:ext cx="10499838" cy="101777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46" name="Google Shape;746;g3ca06bb47b3_0_1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g3ca06bb47b3_0_1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3ca06bb47b3_0_14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364" y="2749278"/>
            <a:ext cx="11094694" cy="753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g3ca06bb47b3_0_1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9142857" y="3215403"/>
            <a:ext cx="2287242" cy="465240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g3ca06bb47b3_0_141"/>
          <p:cNvSpPr txBox="1"/>
          <p:nvPr/>
        </p:nvSpPr>
        <p:spPr>
          <a:xfrm>
            <a:off x="11015021" y="5199173"/>
            <a:ext cx="5291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07.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Reference</a:t>
            </a:r>
            <a:endParaRPr sz="4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g3ca06bb47b3_0_1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28782" y="7444849"/>
            <a:ext cx="1765875" cy="2840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3ca06bb47b3_0_1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60000">
            <a:off x="14537148" y="582695"/>
            <a:ext cx="4030364" cy="287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g3ca06bb47b3_0_1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600000">
            <a:off x="14485502" y="2371695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g3ca06bb47b3_0_1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2820000">
            <a:off x="14475867" y="1029148"/>
            <a:ext cx="4406765" cy="213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g3ca06bb47b3_0_15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600000">
            <a:off x="17187143" y="1104900"/>
            <a:ext cx="262657" cy="26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3ca06bb47b3_0_15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372328" y="3208415"/>
            <a:ext cx="18185630" cy="1231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g3ca06bb47b3_0_153"/>
          <p:cNvPicPr preferRelativeResize="0"/>
          <p:nvPr/>
        </p:nvPicPr>
        <p:blipFill rotWithShape="1">
          <a:blip r:embed="rId9">
            <a:alphaModFix/>
          </a:blip>
          <a:srcRect b="3409"/>
          <a:stretch/>
        </p:blipFill>
        <p:spPr>
          <a:xfrm>
            <a:off x="1514449" y="2314285"/>
            <a:ext cx="15256815" cy="797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g3ca06bb47b3_0_15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0054" y="1997656"/>
            <a:ext cx="12469674" cy="3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g3ca06bb47b3_0_15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834319" y="1940780"/>
            <a:ext cx="135410" cy="135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g3ca06bb47b3_0_153"/>
          <p:cNvPicPr preferRelativeResize="0"/>
          <p:nvPr/>
        </p:nvPicPr>
        <p:blipFill rotWithShape="1">
          <a:blip r:embed="rId12">
            <a:alphaModFix/>
          </a:blip>
          <a:srcRect b="74252"/>
          <a:stretch/>
        </p:blipFill>
        <p:spPr>
          <a:xfrm>
            <a:off x="0" y="7030029"/>
            <a:ext cx="18285715" cy="325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g3ca06bb47b3_0_15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g3ca06bb47b3_0_153"/>
          <p:cNvSpPr txBox="1"/>
          <p:nvPr/>
        </p:nvSpPr>
        <p:spPr>
          <a:xfrm>
            <a:off x="1411728" y="1166650"/>
            <a:ext cx="11603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00020"/>
                </a:solidFill>
                <a:latin typeface="Do Hyeon"/>
                <a:ea typeface="Do Hyeon"/>
                <a:cs typeface="Do Hyeon"/>
                <a:sym typeface="Do Hyeon"/>
              </a:rPr>
              <a:t>07. </a:t>
            </a:r>
            <a:r>
              <a:rPr lang="en-US" sz="4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Reference</a:t>
            </a:r>
            <a:endParaRPr/>
          </a:p>
        </p:txBody>
      </p:sp>
      <p:sp>
        <p:nvSpPr>
          <p:cNvPr id="767" name="Google Shape;767;g3ca06bb47b3_0_153"/>
          <p:cNvSpPr txBox="1"/>
          <p:nvPr/>
        </p:nvSpPr>
        <p:spPr>
          <a:xfrm>
            <a:off x="1967376" y="2848475"/>
            <a:ext cx="143736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Kaya, N., &amp; Epps, H. H. (2004). "Relationship between color and emotion: A study of college students." </a:t>
            </a:r>
            <a:r>
              <a:rPr lang="en-US" sz="1800" b="1" i="1">
                <a:solidFill>
                  <a:schemeClr val="dk1"/>
                </a:solidFill>
              </a:rPr>
              <a:t>College Student Journal</a:t>
            </a:r>
            <a:r>
              <a:rPr lang="en-US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Hemphill, M. (1996). "A Note on Adults' Color-Emotion Associations." </a:t>
            </a:r>
            <a:r>
              <a:rPr lang="en-US" sz="1800" b="1" i="1">
                <a:solidFill>
                  <a:schemeClr val="dk1"/>
                </a:solidFill>
              </a:rPr>
              <a:t>The Journal of Genetic Psychology</a:t>
            </a:r>
            <a:r>
              <a:rPr lang="en-US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Azeemi, S. T. Y., &amp; Raza, S. M. (2005). "A Critical Analysis of Chromotherapy and Its Scientific Evolution." </a:t>
            </a:r>
            <a:r>
              <a:rPr lang="en-US" sz="1800" b="1" i="1">
                <a:solidFill>
                  <a:schemeClr val="dk1"/>
                </a:solidFill>
              </a:rPr>
              <a:t>Evidence-Based Complementary and Alternative Medicine</a:t>
            </a:r>
            <a:r>
              <a:rPr lang="en-US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Wahrheit, M. (2014). "The Healing Power of Colors." </a:t>
            </a:r>
            <a:r>
              <a:rPr lang="en-US" sz="1800" b="1" i="1">
                <a:solidFill>
                  <a:schemeClr val="dk1"/>
                </a:solidFill>
              </a:rPr>
              <a:t>International Journal of Scientific &amp; Engineering Research</a:t>
            </a:r>
            <a:r>
              <a:rPr lang="en-US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Thorstenson, C. A. (2018). "Facial Color as a Social Signal." </a:t>
            </a:r>
            <a:r>
              <a:rPr lang="en-US" sz="1800" b="1" i="1">
                <a:solidFill>
                  <a:schemeClr val="dk1"/>
                </a:solidFill>
              </a:rPr>
              <a:t>Personality and Social Psychology Review</a:t>
            </a:r>
            <a:r>
              <a:rPr lang="en-US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Itten, J. (1973). </a:t>
            </a:r>
            <a:r>
              <a:rPr lang="en-US" sz="1800" b="1" i="1">
                <a:solidFill>
                  <a:schemeClr val="dk1"/>
                </a:solidFill>
              </a:rPr>
              <a:t>The Art of Color</a:t>
            </a:r>
            <a:r>
              <a:rPr lang="en-US" sz="1800" b="1">
                <a:solidFill>
                  <a:schemeClr val="dk1"/>
                </a:solidFill>
              </a:rPr>
              <a:t>.</a:t>
            </a:r>
            <a:endParaRPr sz="1800" b="1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900" b="1">
              <a:solidFill>
                <a:schemeClr val="dk1"/>
              </a:solidFill>
            </a:endParaRPr>
          </a:p>
        </p:txBody>
      </p:sp>
      <p:pic>
        <p:nvPicPr>
          <p:cNvPr id="768" name="Google Shape;768;g3ca06bb47b3_0_15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00054" y="1992107"/>
            <a:ext cx="4277889" cy="19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74740" y="6528848"/>
            <a:ext cx="6736904" cy="4576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9"/>
          <p:cNvPicPr preferRelativeResize="0"/>
          <p:nvPr/>
        </p:nvPicPr>
        <p:blipFill rotWithShape="1">
          <a:blip r:embed="rId4">
            <a:alphaModFix/>
          </a:blip>
          <a:srcRect r="16333" b="42110"/>
          <a:stretch/>
        </p:blipFill>
        <p:spPr>
          <a:xfrm rot="-1740000">
            <a:off x="8979720" y="5059990"/>
            <a:ext cx="10720043" cy="700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498732" y="2559765"/>
            <a:ext cx="2908864" cy="59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3164" y="2789709"/>
            <a:ext cx="4817998" cy="5359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9"/>
          <p:cNvPicPr preferRelativeResize="0"/>
          <p:nvPr/>
        </p:nvPicPr>
        <p:blipFill rotWithShape="1">
          <a:blip r:embed="rId8">
            <a:alphaModFix/>
          </a:blip>
          <a:srcRect r="16614" b="46638"/>
          <a:stretch/>
        </p:blipFill>
        <p:spPr>
          <a:xfrm rot="-7140000">
            <a:off x="11604869" y="187590"/>
            <a:ext cx="10683931" cy="594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97293" y="306072"/>
            <a:ext cx="1988992" cy="66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10800000">
            <a:off x="7987753" y="0"/>
            <a:ext cx="11094695" cy="7536437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9"/>
          <p:cNvSpPr txBox="1"/>
          <p:nvPr/>
        </p:nvSpPr>
        <p:spPr>
          <a:xfrm>
            <a:off x="5987005" y="4684405"/>
            <a:ext cx="77724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Thank You</a:t>
            </a:r>
            <a:endParaRPr sz="96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1125</Words>
  <Application>Microsoft Office PowerPoint</Application>
  <PresentationFormat>사용자 지정</PresentationFormat>
  <Paragraphs>199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4" baseType="lpstr">
      <vt:lpstr>Arial</vt:lpstr>
      <vt:lpstr>Wingdings</vt:lpstr>
      <vt:lpstr>Do Hyeon</vt:lpstr>
      <vt:lpstr>나눔스퀘어_ac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준영 박</cp:lastModifiedBy>
  <cp:revision>4</cp:revision>
  <dcterms:created xsi:type="dcterms:W3CDTF">2024-02-10T23:43:54Z</dcterms:created>
  <dcterms:modified xsi:type="dcterms:W3CDTF">2026-02-24T10:44:09Z</dcterms:modified>
</cp:coreProperties>
</file>